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0817352" cy="594360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ÉCOLE MAROCAINE DES SCIENCES DE L'INGÉNIEUR</a:t>
            </a:r>
          </a:p>
          <a:p>
            <a:pPr algn="ctr">
              <a:defRPr sz="1400" i="1">
                <a:solidFill>
                  <a:srgbClr val="00F0FF"/>
                </a:solidFill>
                <a:latin typeface="Inter"/>
              </a:defRPr>
            </a:pPr>
            <a:r>
              <a:t>Membre de Honoris United Universities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CBD5E1"/>
                </a:solidFill>
                <a:latin typeface="Inter"/>
              </a:defRPr>
            </a:pPr>
            <a:r>
              <a:t>PROJET DE FIN D'ANNÉE (PFA)</a:t>
            </a:r>
          </a:p>
          <a:p>
            <a:pPr algn="ctr">
              <a:lnSpc>
                <a:spcPct val="120000"/>
              </a:lnSpc>
              <a:defRPr sz="3200" b="1">
                <a:solidFill>
                  <a:srgbClr val="00F0FF"/>
                </a:solidFill>
                <a:latin typeface="Inter"/>
              </a:defRPr>
            </a:pPr>
            <a:r>
              <a:t>Implémentation d'un Système de Consensus Byzantin Résilient (PBFT)</a:t>
            </a:r>
            <a:br/>
            <a:r>
              <a:t>et Sécurisation Cryptographique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873752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0FF"/>
                </a:solidFill>
                <a:latin typeface="Inter"/>
              </a:defRPr>
            </a:pPr>
            <a:r>
              <a:t>Réalisé par 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Yassir KADOUARI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Matine ELKASBIJI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Marouane ISMAILI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48056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B5CF6"/>
                </a:solidFill>
                <a:latin typeface="Inter"/>
              </a:defRPr>
            </a:pPr>
            <a:r>
              <a:t>Filière &amp; Option 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Ingénierie Informatique</a:t>
            </a:r>
            <a:br/>
            <a:r>
              <a:t>Systèmes, Réseaux &amp; Génie Logiciel</a:t>
            </a:r>
          </a:p>
          <a:p>
            <a:pPr>
              <a:defRPr sz="1200">
                <a:solidFill>
                  <a:srgbClr val="CBD5E1"/>
                </a:solidFill>
                <a:latin typeface="Inter"/>
              </a:defRPr>
            </a:pPr>
            <a:r>
              <a:t>Année Universitaire :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1. Contexte &amp; Enjeux Industriels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0FF"/>
                </a:solidFill>
                <a:latin typeface="Inter"/>
              </a:defRPr>
            </a:pPr>
            <a:r>
              <a:t>Enjeux des Systèmes Distribués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Infrastructures hautement critiques globales.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Transactions bancaires, chaînes de blocs, clouds.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Besoin de coordination sur un état de registre partagé.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Pannes matérielles franches (coupure de courant, crash).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Saturations réseau asynchrones et latences imprévues.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Inter"/>
              </a:defRPr>
            </a:pPr>
            <a:r>
              <a:t>Le Modèle de Panne Byzantine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Introduction de nœuds piratés ou de bugs arbitraires.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Omissions volontaires, falsifications actives de paquets.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Équivocations : diffusion de messages contradictoires.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Formule de tolérance robuste : N &gt;= 3f + 1.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Notre cluster à 4 nœuds tolère précisément f = 1 panne.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2. Problématique : CFT vs BFT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3F5E"/>
                </a:solidFill>
                <a:latin typeface="Inter"/>
              </a:defRPr>
            </a:pPr>
            <a:r>
              <a:t>Crash Fault Tolerant (CFT)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Modèle restreint : crash franc et arrêts nets.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Solutions industrielles : Raft et Paxos standard.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Hypothèse interne : aucun nœud ne triche ou ne 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Tolérance : uniquement coupures temporaires de courant.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❌ Échouent dès qu'un nœud est piraté ou malicieux.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Usage : Bases de données internes de confiance.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  <a:latin typeface="Inter"/>
              </a:defRPr>
            </a:pPr>
            <a:r>
              <a:t>Byzantine Fault Tolerant (BFT)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Modèle total : pannes actives, logiques et arbitraires.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Algorithmes phares : PBFT, HotStuff, Tendermint.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Hypothèse interne : certains réplicas mentent activement.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Tolérance : falsifications de votes, replay attacks.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✅ Maintient l'état sain via une double phase de quorum.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Usage : Blockchains ouvertes, coordination inter-bancaire.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3. Fonctionnement du Consensus PBFT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8328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38328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0FF"/>
                </a:solidFill>
                <a:latin typeface="Inter"/>
              </a:defRPr>
            </a:pPr>
            <a:r>
              <a:t>Phase 1 : Pre-Prepare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Réception : Le Leader reçoit la transaction cliente.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Séquence : Le leader affecte un numéro séquentiel strict.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Signature : Calcul et injection d'une signature ECDSA.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Diffusion : Envoi de la proposition à tout le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463040"/>
            <a:ext cx="338328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1463040"/>
            <a:ext cx="338328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B5CF6"/>
                </a:solidFill>
                <a:latin typeface="Inter"/>
              </a:defRPr>
            </a:pPr>
            <a:r>
              <a:t>Phase 2 : Prepare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Vérification : Les réplicas vérifient la signature du leader.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Vote : Chaque nœud sain émet un vote PREPARE.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Quorum : Accumulation de 2f votes valides distincts.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État Prepared : Transition locale à l'état stable Prepared.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1463040"/>
            <a:ext cx="338328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7" y="1463040"/>
            <a:ext cx="338328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  <a:latin typeface="Inter"/>
              </a:defRPr>
            </a:pPr>
            <a:r>
              <a:t>Phase 3 : Commit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Diffusion : Les nœuds prepared s'envoient un vote COMMIT.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Double Quorum : Collecte de 2f + 1 commits valides.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Exécution : Application définitive dans le registre local.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200">
                <a:solidFill>
                  <a:srgbClr val="FFFFFF"/>
                </a:solidFill>
                <a:latin typeface="Inter"/>
              </a:defRPr>
            </a:pPr>
            <a:r>
              <a:t>→ Réponse client : Retour d'un message REPLY signé.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4. Cryptographie Asymétrique &amp; Seuil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0FF"/>
                </a:solidFill>
                <a:latin typeface="Inter"/>
              </a:defRPr>
            </a:pPr>
            <a:r>
              <a:t>Signatures ECDSA (secp256r1)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Briques d'authentification basées sur BouncyCastle.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Handshake initial : échange automatisé des clés publiques.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Garantie : signatures uniques jointes aux paquets Prepare/Commit.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Vérification instantanée en arithmétique modulaire.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Sécurité absolue : aucune falsification possible des votes.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Inter"/>
              </a:defRPr>
            </a:pPr>
            <a:r>
              <a:t>Partage de Secret de Shamir (t=2, n=4)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Partage de secret cryptographique de groupe décentralisé.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Clé répartie géométriquement en n = 4 parts (shares) distinctes.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Reconstruction possible dès que t = 2 nœuds sains collaborent.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Interpolation de Lagrange modulo le grand nombre premier P.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Architecture décentralisée éliminant les points de faille.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5. Architecture &amp; Développement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21945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219456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F0FF"/>
                </a:solidFill>
                <a:latin typeface="Inter"/>
              </a:defRPr>
            </a:pPr>
            <a:r>
              <a:t>NetworkManager (TCP Mesh)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Sockets asynchrones multi-threadées / maillage complet / protection anti-relecture SHA-256.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→ Validé sous environnements conteneurisés Docker.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21945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40"/>
            <a:ext cx="5120640" cy="219456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B5CF6"/>
                </a:solidFill>
                <a:latin typeface="Inter"/>
              </a:defRPr>
            </a:pPr>
            <a:r>
              <a:t>PBFTEngine (Automate PBFT)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Gestion des quorums et des états Prepared/Committed / machine d'état asynchrone.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→ Validé sous environnements conteneurisés Docker.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120640" cy="21945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5120640" cy="219456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Inter"/>
              </a:defRPr>
            </a:pPr>
            <a:r>
              <a:t>ByzantineBehavior (Anomalies)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Injection à chaud d'attaques logiques (SilentNode, Equivocation, Replay).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→ Validé sous environnements conteneurisés Docker.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3931920"/>
            <a:ext cx="5120640" cy="21945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931920"/>
            <a:ext cx="5120640" cy="219456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MetricsServer (HTTP REST API)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→ Serveur Sun HttpServer intégré / exposition instantanée en JSON.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→ Validé sous environnements conteneurisés Docker.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6. Simulations d'Attaques &amp; Résilience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3F5E"/>
                </a:solidFill>
                <a:latin typeface="Inter"/>
              </a:defRPr>
            </a:pPr>
            <a:r>
              <a:t>Scénario : Nœud 3 SilentDrop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Déploiement de 4 nœuds isolés via Docker Compose.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Nœud 3 instancié avec le profil SilentNode.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Comportement injecté : rejet complet des communications.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Zéro message de vote prepare ou commit émis.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Simulation parfaite d'un crash réseau complet.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40"/>
            <a:ext cx="5120640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  <a:latin typeface="Inter"/>
              </a:defRPr>
            </a:pPr>
            <a:r>
              <a:t>Résultats de l'Évaluation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Quorum prepare atteint avec 2/2 prepares.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Quorum commit atteint avec 3/3 commits.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145 rounds successifs complétés sans incident.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Absence complète de forks ou de désynchronisation.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• Latence moyenne ultra-faible : 10 ms à 25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7. Observabilité en Temps Réel :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0FF"/>
                </a:solidFill>
                <a:latin typeface="Inter"/>
              </a:defRPr>
            </a:pPr>
            <a:r>
              <a:t>Architecture d'Observabilité Distribuée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Découplage complet : Application frontend HTML5/CSS3/Javascript statique autonome.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Hébergement : Servie par un conteneur Web Nginx à hautes performances.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Télémétrie : Polling périodique des nœuds via des requêtes HTTP asynchrones légères.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Topologie dynamique : Graphe vectoriel interactif tracé en direct sur Canvas HTML5.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Suivi des rôles : Représentation visuelle animée des nœuds (Leader, Replica, Offline).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Performances en direct : Courbes de latence, débit instantané et volumes de consensus.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 Détection d'intrusion : Logs instantanés des alertes en cas de comportement byzantin suspecté.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817352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Inter"/>
              </a:defRPr>
            </a:pPr>
            <a:r>
              <a:t>PROJET DE FIN D'ANNÉE — EMSI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Inter"/>
              </a:defRPr>
            </a:pPr>
            <a:r>
              <a:t>Conclusion Générale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8173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72A4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8463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8B5CF6"/>
                </a:solidFill>
                <a:latin typeface="Inter"/>
              </a:defRPr>
            </a:pPr>
            <a:r>
              <a:t>Bilan et perspectives de ce projet de PFA à l'EMSI 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Atteinte complète de tous les objectifs de résilience PBFT fixés.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Mise en pratique approfondie des concepts de multi-threading et de sockets TCP robustes.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Approfondissement des notions cryptographiques modernes NIST et Shamir.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Preuve empirique de la survie du registre malgré la compromission active d'un pair.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Perspectives 1 : Activation de TLS mutuel (mTLS) pour chiffrer l'ensemble des sockets.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Perspectives 2 : Transition vers des signatures de seuil TSS pour optimiser la charge utile.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Perspectives 3 : Simulation de menaces d'équivocation avancée et partitions réseau complexes.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→ Clôture : Un dossier de PFA académique de haut niveau, prêt pour le jury d'évaluation.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